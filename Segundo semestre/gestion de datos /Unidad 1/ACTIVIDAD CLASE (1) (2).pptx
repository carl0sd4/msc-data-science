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IHtDX3uRP+3roMkBbn1s+Hbth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DFD8F9-6180-469E-B672-9F74B0F84894}">
  <a:tblStyle styleId="{EEDFD8F9-6180-469E-B672-9F74B0F8489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Google Shape;24;p8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8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" name="Google Shape;26;p8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</p:sp>
        <p:sp>
          <p:nvSpPr>
            <p:cNvPr id="27" name="Google Shape;27;p8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28" name="Google Shape;28;p8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8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7818">
                <a:alpha val="70196"/>
              </a:srgbClr>
            </a:solidFill>
            <a:ln>
              <a:noFill/>
            </a:ln>
          </p:spPr>
        </p:sp>
        <p:sp>
          <p:nvSpPr>
            <p:cNvPr id="30" name="Google Shape;30;p8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</p:sp>
        <p:sp>
          <p:nvSpPr>
            <p:cNvPr id="31" name="Google Shape;31;p8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</p:sp>
        <p:sp>
          <p:nvSpPr>
            <p:cNvPr id="32" name="Google Shape;32;p8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8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1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5" name="Google Shape;65;p13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7" name="Google Shape;67;p13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80" name="Google Shape;80;p1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7" name="Google Shape;87;p1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800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1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>
  <p:cSld name="Citar la tarjeta de nombr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2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18" name="Google Shape;118;p20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9" name="Google Shape;119;p20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>
  <p:cSld name="Verdadero o falso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" name="Google Shape;7;p7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" name="Google Shape;8;p7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" name="Google Shape;9;p7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</p:sp>
        <p:sp>
          <p:nvSpPr>
            <p:cNvPr id="10" name="Google Shape;10;p7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1" name="Google Shape;11;p7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7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7818">
                <a:alpha val="70196"/>
              </a:srgbClr>
            </a:solidFill>
            <a:ln>
              <a:noFill/>
            </a:ln>
          </p:spPr>
        </p:sp>
        <p:sp>
          <p:nvSpPr>
            <p:cNvPr id="13" name="Google Shape;13;p7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</p:sp>
        <p:sp>
          <p:nvSpPr>
            <p:cNvPr id="14" name="Google Shape;14;p7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</p:sp>
        <p:sp>
          <p:nvSpPr>
            <p:cNvPr id="15" name="Google Shape;15;p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2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6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6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" name="Google Shape;19;p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0" name="Google Shape;20;p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/>
          <p:nvPr/>
        </p:nvSpPr>
        <p:spPr>
          <a:xfrm>
            <a:off x="873579" y="665594"/>
            <a:ext cx="610144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Caso planteado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Empresa: RetailPlus (cadena de tiendas)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 empresa tiene problemas para tomar decisiones porque la información está distribuida en diferentes sistemas:</a:t>
            </a:r>
            <a:endParaRPr/>
          </a:p>
        </p:txBody>
      </p:sp>
      <p:sp>
        <p:nvSpPr>
          <p:cNvPr id="144" name="Google Shape;144;p1"/>
          <p:cNvSpPr txBox="1"/>
          <p:nvPr/>
        </p:nvSpPr>
        <p:spPr>
          <a:xfrm>
            <a:off x="6975021" y="992004"/>
            <a:ext cx="3175906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Sistemas actuales: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s-CO" sz="18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ERP</a:t>
            </a:r>
            <a:endParaRPr b="0" i="0" sz="1800" u="sng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Productos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Inventarios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Compras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Facturación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s-CO" sz="18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CRM</a:t>
            </a:r>
            <a:endParaRPr b="0" i="0" sz="1800" u="sng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Clientes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Reclamos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Campañas comerciales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s-CO" sz="18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Aplicación móvil</a:t>
            </a:r>
            <a:endParaRPr b="0" i="0" sz="1800" u="sng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Pedidos online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Navegación de clientes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Preferencias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s-CO" sz="18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Sistema financiero</a:t>
            </a:r>
            <a:endParaRPr b="0" i="0" sz="1800" u="sng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Pagos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Costos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Rentabilidad </a:t>
            </a:r>
            <a:endParaRPr/>
          </a:p>
        </p:txBody>
      </p:sp>
      <p:sp>
        <p:nvSpPr>
          <p:cNvPr id="145" name="Google Shape;145;p1"/>
          <p:cNvSpPr txBox="1"/>
          <p:nvPr/>
        </p:nvSpPr>
        <p:spPr>
          <a:xfrm>
            <a:off x="1015094" y="4170794"/>
            <a:ext cx="4972049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 gerencia solicita: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AutoNum type="arabicPeriod"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Conocer los productos más rentables.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AutoNum type="arabicPeriod"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Analizar comportamiento de clientes.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AutoNum type="arabicPeriod"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Predecir demanda.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AutoNum type="arabicPeriod"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Crear indicadores para directivos.</a:t>
            </a:r>
            <a:endParaRPr/>
          </a:p>
        </p:txBody>
      </p:sp>
      <p:sp>
        <p:nvSpPr>
          <p:cNvPr descr="Maestro con relleno sólido" id="146" name="Google Shape;146;p1"/>
          <p:cNvSpPr/>
          <p:nvPr/>
        </p:nvSpPr>
        <p:spPr>
          <a:xfrm>
            <a:off x="2699656" y="1763485"/>
            <a:ext cx="2329543" cy="232954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"/>
          <p:cNvSpPr txBox="1"/>
          <p:nvPr/>
        </p:nvSpPr>
        <p:spPr>
          <a:xfrm>
            <a:off x="449037" y="4527007"/>
            <a:ext cx="6101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Preguntas: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¿Cuáles datos son maestros? Clientes y productos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¿Cuáles son transaccionales? Facturación</a:t>
            </a: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pedidos online, reclamos.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¿Qué problemas de calidad podrían existir? Inconsistencias, duplicidad, datos nulos, d</a:t>
            </a: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atos desactualizados, datos vacios.</a:t>
            </a:r>
            <a:endParaRPr/>
          </a:p>
        </p:txBody>
      </p:sp>
      <p:sp>
        <p:nvSpPr>
          <p:cNvPr id="152" name="Google Shape;152;p2"/>
          <p:cNvSpPr txBox="1"/>
          <p:nvPr/>
        </p:nvSpPr>
        <p:spPr>
          <a:xfrm>
            <a:off x="775608" y="645664"/>
            <a:ext cx="61014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Parte 1: Identificar fuentes de datos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Completar:</a:t>
            </a:r>
            <a:endParaRPr/>
          </a:p>
        </p:txBody>
      </p:sp>
      <p:graphicFrame>
        <p:nvGraphicFramePr>
          <p:cNvPr id="153" name="Google Shape;153;p2"/>
          <p:cNvGraphicFramePr/>
          <p:nvPr/>
        </p:nvGraphicFramePr>
        <p:xfrm>
          <a:off x="1010813" y="14737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{EEDFD8F9-6180-469E-B672-9F74B0F84894}</a:tableStyleId>
              </a:tblPr>
              <a:tblGrid>
                <a:gridCol w="2865425"/>
                <a:gridCol w="2865425"/>
                <a:gridCol w="28654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b="1" lang="es-CO" sz="1800" u="sng" cap="none" strike="noStrike"/>
                        <a:t>Fuente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b="1" lang="es-CO" sz="1800" u="sng" cap="none" strike="noStrike"/>
                        <a:t>Tipo de sistema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b="1" lang="es-CO" sz="1800" u="sng" cap="none" strike="noStrike"/>
                        <a:t>Datos generados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 u="none" cap="none" strike="noStrike"/>
                        <a:t>ERP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Transaccional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Inventarios, pedidos, facturación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 u="none" cap="none" strike="noStrike"/>
                        <a:t>CRM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Gestión de Clientes-Analítico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Clientes, reclamos, campañas comerciales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 u="none" cap="none" strike="noStrike"/>
                        <a:t>App móvil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Gestión de Clientes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Pedidos Online, navegación de clientes, preferencias.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 u="none" cap="none" strike="noStrike"/>
                        <a:t>Financiero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Transaccional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transferencias, movimientos, saldos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/>
          <p:nvPr/>
        </p:nvSpPr>
        <p:spPr>
          <a:xfrm>
            <a:off x="634093" y="871248"/>
            <a:ext cx="61014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Parte 2: Diseñar el flujo ETL</a:t>
            </a:r>
            <a:endParaRPr/>
          </a:p>
        </p:txBody>
      </p:sp>
      <p:grpSp>
        <p:nvGrpSpPr>
          <p:cNvPr id="159" name="Google Shape;159;p3"/>
          <p:cNvGrpSpPr/>
          <p:nvPr/>
        </p:nvGrpSpPr>
        <p:grpSpPr>
          <a:xfrm>
            <a:off x="7509568" y="1586327"/>
            <a:ext cx="4407490" cy="4643951"/>
            <a:chOff x="5632317" y="1189775"/>
            <a:chExt cx="3305700" cy="3483050"/>
          </a:xfrm>
        </p:grpSpPr>
        <p:sp>
          <p:nvSpPr>
            <p:cNvPr id="160" name="Google Shape;160;p3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Carga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1" name="Google Shape;161;p3"/>
            <p:cNvSpPr txBox="1"/>
            <p:nvPr/>
          </p:nvSpPr>
          <p:spPr>
            <a:xfrm>
              <a:off x="6167063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00">
                  <a:latin typeface="Roboto"/>
                  <a:ea typeface="Roboto"/>
                  <a:cs typeface="Roboto"/>
                  <a:sym typeface="Roboto"/>
                </a:rPr>
                <a:t>Tabla de dimensiones: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00">
                  <a:latin typeface="Roboto"/>
                  <a:ea typeface="Roboto"/>
                  <a:cs typeface="Roboto"/>
                  <a:sym typeface="Roboto"/>
                </a:rPr>
                <a:t>Cliente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00">
                  <a:latin typeface="Roboto"/>
                  <a:ea typeface="Roboto"/>
                  <a:cs typeface="Roboto"/>
                  <a:sym typeface="Roboto"/>
                </a:rPr>
                <a:t>Producto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00">
                  <a:latin typeface="Roboto"/>
                  <a:ea typeface="Roboto"/>
                  <a:cs typeface="Roboto"/>
                  <a:sym typeface="Roboto"/>
                </a:rPr>
                <a:t>Tiempo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00">
                  <a:latin typeface="Roboto"/>
                  <a:ea typeface="Roboto"/>
                  <a:cs typeface="Roboto"/>
                  <a:sym typeface="Roboto"/>
                </a:rPr>
                <a:t>Tienda/Región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00">
                  <a:latin typeface="Roboto"/>
                  <a:ea typeface="Roboto"/>
                  <a:cs typeface="Roboto"/>
                  <a:sym typeface="Roboto"/>
                </a:rPr>
                <a:t>Tabla de hechos: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00">
                  <a:latin typeface="Roboto"/>
                  <a:ea typeface="Roboto"/>
                  <a:cs typeface="Roboto"/>
                  <a:sym typeface="Roboto"/>
                </a:rPr>
                <a:t>Ventas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00">
                  <a:latin typeface="Roboto"/>
                  <a:ea typeface="Roboto"/>
                  <a:cs typeface="Roboto"/>
                  <a:sym typeface="Roboto"/>
                </a:rPr>
                <a:t>Inventario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00">
                  <a:latin typeface="Roboto"/>
                  <a:ea typeface="Roboto"/>
                  <a:cs typeface="Roboto"/>
                  <a:sym typeface="Roboto"/>
                </a:rPr>
                <a:t>Reclamos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00">
                  <a:latin typeface="Roboto"/>
                  <a:ea typeface="Roboto"/>
                  <a:cs typeface="Roboto"/>
                  <a:sym typeface="Roboto"/>
                </a:rPr>
                <a:t>Pagos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2" name="Google Shape;162;p3"/>
          <p:cNvGrpSpPr/>
          <p:nvPr/>
        </p:nvGrpSpPr>
        <p:grpSpPr>
          <a:xfrm>
            <a:off x="0" y="1586613"/>
            <a:ext cx="4729082" cy="4643665"/>
            <a:chOff x="0" y="1189989"/>
            <a:chExt cx="3546900" cy="3482836"/>
          </a:xfrm>
        </p:grpSpPr>
        <p:sp>
          <p:nvSpPr>
            <p:cNvPr id="163" name="Google Shape;163;p3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fmla="val 50000" name="adj"/>
              </a:avLst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                     Extracción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4" name="Google Shape;164;p3"/>
            <p:cNvSpPr txBox="1"/>
            <p:nvPr/>
          </p:nvSpPr>
          <p:spPr>
            <a:xfrm>
              <a:off x="655361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00">
                  <a:latin typeface="Roboto"/>
                  <a:ea typeface="Roboto"/>
                  <a:cs typeface="Roboto"/>
                  <a:sym typeface="Roboto"/>
                </a:rPr>
                <a:t>ERP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00">
                  <a:latin typeface="Roboto"/>
                  <a:ea typeface="Roboto"/>
                  <a:cs typeface="Roboto"/>
                  <a:sym typeface="Roboto"/>
                </a:rPr>
                <a:t>CRM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00">
                  <a:latin typeface="Roboto"/>
                  <a:ea typeface="Roboto"/>
                  <a:cs typeface="Roboto"/>
                  <a:sym typeface="Roboto"/>
                </a:rPr>
                <a:t>Aplicación </a:t>
              </a:r>
              <a:r>
                <a:rPr lang="es-CO" sz="1600">
                  <a:latin typeface="Roboto"/>
                  <a:ea typeface="Roboto"/>
                  <a:cs typeface="Roboto"/>
                  <a:sym typeface="Roboto"/>
                </a:rPr>
                <a:t>Móvil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00">
                  <a:latin typeface="Roboto"/>
                  <a:ea typeface="Roboto"/>
                  <a:cs typeface="Roboto"/>
                  <a:sym typeface="Roboto"/>
                </a:rPr>
                <a:t>Sistema Financiero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5" name="Google Shape;165;p3"/>
          <p:cNvGrpSpPr/>
          <p:nvPr/>
        </p:nvGrpSpPr>
        <p:grpSpPr>
          <a:xfrm>
            <a:off x="3925507" y="1586327"/>
            <a:ext cx="4407490" cy="4643951"/>
            <a:chOff x="2944204" y="1189775"/>
            <a:chExt cx="3305700" cy="3483050"/>
          </a:xfrm>
        </p:grpSpPr>
        <p:sp>
          <p:nvSpPr>
            <p:cNvPr id="166" name="Google Shape;166;p3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Transformación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7" name="Google Shape;167;p3"/>
            <p:cNvSpPr txBox="1"/>
            <p:nvPr/>
          </p:nvSpPr>
          <p:spPr>
            <a:xfrm>
              <a:off x="3478949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00">
                  <a:latin typeface="Roboto"/>
                  <a:ea typeface="Roboto"/>
                  <a:cs typeface="Roboto"/>
                  <a:sym typeface="Roboto"/>
                </a:rPr>
                <a:t>Eliminar datos duplicados de clientes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00">
                  <a:latin typeface="Roboto"/>
                  <a:ea typeface="Roboto"/>
                  <a:cs typeface="Roboto"/>
                  <a:sym typeface="Roboto"/>
                </a:rPr>
                <a:t>Descartar datos </a:t>
              </a:r>
              <a:r>
                <a:rPr lang="es-CO" sz="1600">
                  <a:latin typeface="Roboto"/>
                  <a:ea typeface="Roboto"/>
                  <a:cs typeface="Roboto"/>
                  <a:sym typeface="Roboto"/>
                </a:rPr>
                <a:t>vacíos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00">
                  <a:latin typeface="Roboto"/>
                  <a:ea typeface="Roboto"/>
                  <a:cs typeface="Roboto"/>
                  <a:sym typeface="Roboto"/>
                </a:rPr>
                <a:t>Corregir inconsistencias entre sistemas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00">
                  <a:latin typeface="Roboto"/>
                  <a:ea typeface="Roboto"/>
                  <a:cs typeface="Roboto"/>
                  <a:sym typeface="Roboto"/>
                </a:rPr>
                <a:t>Validar datos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00">
                  <a:latin typeface="Roboto"/>
                  <a:ea typeface="Roboto"/>
                  <a:cs typeface="Roboto"/>
                  <a:sym typeface="Roboto"/>
                </a:rPr>
                <a:t>Calcular indicadores del negocio (rentabilidad del producto, ventas por negocio, frecuencia de compra)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 txBox="1"/>
          <p:nvPr/>
        </p:nvSpPr>
        <p:spPr>
          <a:xfrm>
            <a:off x="644979" y="746649"/>
            <a:ext cx="610144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Parte 3: Diseñar el Data Warehouse</a:t>
            </a:r>
            <a:endParaRPr b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Definir: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Tablas de hechos:</a:t>
            </a:r>
            <a:endParaRPr/>
          </a:p>
        </p:txBody>
      </p:sp>
      <p:graphicFrame>
        <p:nvGraphicFramePr>
          <p:cNvPr id="173" name="Google Shape;173;p4"/>
          <p:cNvGraphicFramePr/>
          <p:nvPr/>
        </p:nvGraphicFramePr>
        <p:xfrm>
          <a:off x="677863" y="30040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{EEDFD8F9-6180-469E-B672-9F74B0F84894}</a:tableStyleId>
              </a:tblPr>
              <a:tblGrid>
                <a:gridCol w="15428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 u="none" cap="none" strike="noStrike"/>
                        <a:t>Campo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 u="none" cap="none" strike="noStrike"/>
                        <a:t>Fecha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 u="none" cap="none" strike="noStrike"/>
                        <a:t>Producto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 u="none" cap="none" strike="noStrike"/>
                        <a:t>Cliente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 u="none" cap="none" strike="noStrike"/>
                        <a:t>Cantidad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 u="none" cap="none" strike="noStrike"/>
                        <a:t>Valor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4"/>
          <p:cNvSpPr txBox="1"/>
          <p:nvPr/>
        </p:nvSpPr>
        <p:spPr>
          <a:xfrm>
            <a:off x="644979" y="2213206"/>
            <a:ext cx="61014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Fact_Ventas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2440303" y="2213125"/>
            <a:ext cx="2037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Fact_Clientes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76" name="Google Shape;176;p4"/>
          <p:cNvGraphicFramePr/>
          <p:nvPr/>
        </p:nvGraphicFramePr>
        <p:xfrm>
          <a:off x="2440288" y="30040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{EEDFD8F9-6180-469E-B672-9F74B0F84894}</a:tableStyleId>
              </a:tblPr>
              <a:tblGrid>
                <a:gridCol w="15428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 u="none" cap="none" strike="noStrike"/>
                        <a:t>Campo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 u="none" cap="none" strike="noStrike"/>
                        <a:t>Fecha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Cliente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Producto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Número</a:t>
                      </a:r>
                      <a:r>
                        <a:rPr lang="es-CO" sz="1800"/>
                        <a:t> de compras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Frecuencia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Reclamos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4"/>
          <p:cNvSpPr txBox="1"/>
          <p:nvPr/>
        </p:nvSpPr>
        <p:spPr>
          <a:xfrm>
            <a:off x="4647602" y="2213125"/>
            <a:ext cx="253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Fact_Demanda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8184677" y="2213124"/>
            <a:ext cx="234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Fact_Finanzas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79" name="Google Shape;179;p4"/>
          <p:cNvGraphicFramePr/>
          <p:nvPr/>
        </p:nvGraphicFramePr>
        <p:xfrm>
          <a:off x="8369876" y="30040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{EEDFD8F9-6180-469E-B672-9F74B0F84894}</a:tableStyleId>
              </a:tblPr>
              <a:tblGrid>
                <a:gridCol w="1542825"/>
              </a:tblGrid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>
                          <a:solidFill>
                            <a:schemeClr val="dk1"/>
                          </a:solidFill>
                        </a:rPr>
                        <a:t>Fecha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>
                          <a:solidFill>
                            <a:schemeClr val="dk1"/>
                          </a:solidFill>
                        </a:rPr>
                        <a:t>Producto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Ingresos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>
                          <a:solidFill>
                            <a:schemeClr val="dk1"/>
                          </a:solidFill>
                        </a:rPr>
                        <a:t>Costos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Gastos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Rentabilidad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0" name="Google Shape;180;p4"/>
          <p:cNvGraphicFramePr/>
          <p:nvPr/>
        </p:nvGraphicFramePr>
        <p:xfrm>
          <a:off x="4766588" y="28595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{EEDFD8F9-6180-469E-B672-9F74B0F84894}</a:tableStyleId>
              </a:tblPr>
              <a:tblGrid>
                <a:gridCol w="2347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 u="none" cap="none" strike="noStrike"/>
                        <a:t>Campo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 u="none" cap="none" strike="noStrike"/>
                        <a:t>Fecha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 u="none" cap="none" strike="noStrike"/>
                        <a:t>Producto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Región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 u="none" cap="none" strike="noStrike"/>
                        <a:t>Cantidad v</a:t>
                      </a:r>
                      <a:r>
                        <a:rPr lang="es-CO" sz="1800"/>
                        <a:t>endida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Inventario Disponible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Demanda </a:t>
                      </a:r>
                      <a:r>
                        <a:rPr lang="es-CO" sz="1800"/>
                        <a:t>histórica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Pedidos online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 txBox="1"/>
          <p:nvPr/>
        </p:nvSpPr>
        <p:spPr>
          <a:xfrm>
            <a:off x="928008" y="631095"/>
            <a:ext cx="61014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Parte 4: </a:t>
            </a:r>
            <a:r>
              <a:rPr b="1" lang="es-CO" sz="18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Crear Data Marts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Deben proponer mínimo 3: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lang="es-CO" sz="18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 Mart Comercial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Indicadores: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Ventas mensuales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Clientes nuevos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Ticket promedio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 Mart Clientes</a:t>
            </a:r>
            <a:endParaRPr b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Numero de clientes activos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Frecuencia de compra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Reclamos por periodo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Preferencias de compra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5724525" y="1924100"/>
            <a:ext cx="30000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8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 Mart Inventario y Demanda</a:t>
            </a:r>
            <a:endParaRPr>
              <a:solidFill>
                <a:schemeClr val="dk1"/>
              </a:solidFill>
            </a:endParaRPr>
          </a:p>
          <a:p>
            <a:pPr indent="-1143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Inventario Disponible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143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Rotación de inventarios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143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Productos más vendidos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143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Cobertura de inventario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 Mart Ejecutivo</a:t>
            </a:r>
            <a:endParaRPr b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Ventas totales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Crecimiento de clientes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Cumplimiento de metas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Rentabilidad global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 txBox="1"/>
          <p:nvPr/>
        </p:nvSpPr>
        <p:spPr>
          <a:xfrm>
            <a:off x="764722" y="906921"/>
            <a:ext cx="61014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Parte 5: Diseñar Dashboard BI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lang="es-CO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proponeR 5 KPI:</a:t>
            </a:r>
            <a:endParaRPr/>
          </a:p>
        </p:txBody>
      </p:sp>
      <p:graphicFrame>
        <p:nvGraphicFramePr>
          <p:cNvPr id="192" name="Google Shape;192;p6"/>
          <p:cNvGraphicFramePr/>
          <p:nvPr/>
        </p:nvGraphicFramePr>
        <p:xfrm>
          <a:off x="764722" y="16469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{EEDFD8F9-6180-469E-B672-9F74B0F84894}</a:tableStyleId>
              </a:tblPr>
              <a:tblGrid>
                <a:gridCol w="4327925"/>
                <a:gridCol w="4327925"/>
              </a:tblGrid>
              <a:tr h="42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b="1" lang="es-CO" sz="1800" u="none" cap="none" strike="noStrike"/>
                        <a:t>KPI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b="1" lang="es-CO" sz="1800" u="none" cap="none" strike="noStrike"/>
                        <a:t>Objetivo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6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Rentabilidad del producto (%)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Identificar los productos que genera mayor rentabilidad apoyando </a:t>
                      </a:r>
                      <a:r>
                        <a:rPr lang="es-CO" sz="1800"/>
                        <a:t>decisiones</a:t>
                      </a:r>
                      <a:r>
                        <a:rPr lang="es-CO" sz="1800"/>
                        <a:t> de surtido y precios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Ventas</a:t>
                      </a:r>
                      <a:r>
                        <a:rPr lang="es-CO" sz="1800"/>
                        <a:t> totales mensuales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Medir el rendimiento comercial y monitorear el crecimiento de ingresos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Cantidad de pedidos por cliente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Analizar el comportamiento de compra y valor generado por cliente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Tasa de retención de clientes (%)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Evaluar la fidelización y la efectividad de estrategias comerciales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6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Rotación de inventario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rebuchet MS"/>
                        <a:buNone/>
                      </a:pPr>
                      <a:r>
                        <a:rPr lang="es-CO" sz="1800"/>
                        <a:t>Optimizar niveles de stock y apoyar la predicción de la demanda para evitar </a:t>
                      </a:r>
                      <a:r>
                        <a:rPr lang="es-CO" sz="1800"/>
                        <a:t>sobre inventarios</a:t>
                      </a:r>
                      <a:r>
                        <a:rPr lang="es-CO" sz="1800"/>
                        <a:t> o falta de los mismos.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aceta">
  <a:themeElements>
    <a:clrScheme name="Faceta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2026-06-20T02:26:30Z</dcterms:created>
  <dc:creator>Director Comercial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0x010100B51D442AD58EF54F8B26E9115DDE7B69</vt:lpwstr>
  </property>
  <property fmtid="{D5CDD505-2E9C-101B-9397-08002B2CF9AE}" pid="3" name="MSIP_Label_f535a957-b352-4c2d-aa57-80f72177303d_Enabled">
    <vt:lpwstr>true</vt:lpwstr>
  </property>
  <property fmtid="{D5CDD505-2E9C-101B-9397-08002B2CF9AE}" pid="4" name="MSIP_Label_f535a957-b352-4c2d-aa57-80f72177303d_SetDate">
    <vt:lpwstr>2026-06-20T14:38:05Z</vt:lpwstr>
  </property>
  <property fmtid="{D5CDD505-2E9C-101B-9397-08002B2CF9AE}" pid="5" name="MSIP_Label_f535a957-b352-4c2d-aa57-80f72177303d_Method">
    <vt:lpwstr>Standard</vt:lpwstr>
  </property>
  <property fmtid="{D5CDD505-2E9C-101B-9397-08002B2CF9AE}" pid="6" name="MSIP_Label_f535a957-b352-4c2d-aa57-80f72177303d_Name">
    <vt:lpwstr>defa4170-0d19-0005-0004-bc88714345d2</vt:lpwstr>
  </property>
  <property fmtid="{D5CDD505-2E9C-101B-9397-08002B2CF9AE}" pid="7" name="MSIP_Label_f535a957-b352-4c2d-aa57-80f72177303d_SiteId">
    <vt:lpwstr>34303541-74ec-4d4a-8c5a-8049d2fd6ce6</vt:lpwstr>
  </property>
  <property fmtid="{D5CDD505-2E9C-101B-9397-08002B2CF9AE}" pid="8" name="MSIP_Label_f535a957-b352-4c2d-aa57-80f72177303d_ActionId">
    <vt:lpwstr>a07cd56e-3f49-4941-a378-8835f6e8d5cb</vt:lpwstr>
  </property>
  <property fmtid="{D5CDD505-2E9C-101B-9397-08002B2CF9AE}" pid="9" name="MSIP_Label_f535a957-b352-4c2d-aa57-80f72177303d_ContentBits">
    <vt:lpwstr>0</vt:lpwstr>
  </property>
  <property fmtid="{D5CDD505-2E9C-101B-9397-08002B2CF9AE}" pid="10" name="MSIP_Label_f535a957-b352-4c2d-aa57-80f72177303d_Tag">
    <vt:lpwstr>10, 3, 0, 2</vt:lpwstr>
  </property>
</Properties>
</file>